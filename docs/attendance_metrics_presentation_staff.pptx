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??????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???????? / ????????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スライド1: この表でわかること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latin typeface="Meiryo"/>
              </a:defRPr>
            </a:pPr>
            <a:r>
              <a:t>どの時間帯で「人が足りないか / 多すぎるか」を見える化した表です。</a:t>
            </a:r>
          </a:p>
          <a:p>
            <a:pPr>
              <a:defRPr sz="2000" b="1">
                <a:latin typeface="Meiryo"/>
              </a:defRPr>
            </a:pPr>
            <a:r>
              <a:t>去年の売上傾向（時間帯構成）と、今のシフト体制を比べています。</a:t>
            </a:r>
          </a:p>
          <a:p>
            <a:pPr>
              <a:defRPr sz="2000" b="1">
                <a:latin typeface="Meiryo"/>
              </a:defRPr>
            </a:pPr>
            <a:r>
              <a:t>目的は「売上の取りこぼしを減らす」「ムダな人員配置を減らす」ことです。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スライド2: まず覚える3つの指標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latin typeface="Meiryo"/>
              </a:defRPr>
            </a:pPr>
            <a:r>
              <a:t>時間帯構成比(金額,%)</a:t>
            </a:r>
          </a:p>
          <a:p>
            <a:pPr>
              <a:defRPr sz="2000" b="1">
                <a:latin typeface="Meiryo"/>
              </a:defRPr>
            </a:pPr>
            <a:r>
              <a:t>その時間帯が、1日の売上の中でどれくらいの割合か（需要の目安）</a:t>
            </a:r>
          </a:p>
          <a:p>
            <a:pPr>
              <a:defRPr sz="2000" b="1">
                <a:latin typeface="Meiryo"/>
              </a:defRPr>
            </a:pPr>
            <a:r>
              <a:t>例: 0.1500 = 15.00%</a:t>
            </a:r>
          </a:p>
          <a:p>
            <a:pPr>
              <a:defRPr sz="2000" b="1">
                <a:latin typeface="Meiryo"/>
              </a:defRPr>
            </a:pPr>
            <a:r>
              <a:t>体制シェア(人数×販売力,%)</a:t>
            </a:r>
          </a:p>
          <a:p>
            <a:pPr>
              <a:defRPr sz="2000" b="1">
                <a:latin typeface="Meiryo"/>
              </a:defRPr>
            </a:pPr>
            <a:r>
              <a:t>その時間帯に、店の体制（人数×販売力）をどれくらい配分しているか</a:t>
            </a:r>
          </a:p>
          <a:p>
            <a:pPr>
              <a:defRPr sz="2000" b="1">
                <a:latin typeface="Meiryo"/>
              </a:defRPr>
            </a:pPr>
            <a:r>
              <a:t>例: 0.1100 = 11.00%</a:t>
            </a:r>
          </a:p>
          <a:p>
            <a:pPr>
              <a:defRPr sz="2000" b="1">
                <a:latin typeface="Meiryo"/>
              </a:defRPr>
            </a:pPr>
            <a:r>
              <a:t>需給ギャップ(pt)</a:t>
            </a:r>
          </a:p>
          <a:p>
            <a:pPr>
              <a:defRPr sz="2000" b="1">
                <a:latin typeface="Meiryo"/>
              </a:defRPr>
            </a:pPr>
            <a:r>
              <a:t>計算式: 需給ギャップ = 体制シェア - 時間帯構成比</a:t>
            </a:r>
          </a:p>
          <a:p>
            <a:pPr>
              <a:defRPr sz="2000" b="1">
                <a:latin typeface="Meiryo"/>
              </a:defRPr>
            </a:pPr>
            <a:r>
              <a:t>マイナス: 体制不足（売上を取りこぼす可能性）</a:t>
            </a:r>
          </a:p>
          <a:p>
            <a:pPr>
              <a:defRPr sz="2000" b="1">
                <a:latin typeface="Meiryo"/>
              </a:defRPr>
            </a:pPr>
            <a:r>
              <a:t>プラス: 体制過多（人が余っている可能性）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スライド3: 体制判定(不足/適正/過多) の見方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latin typeface="Meiryo"/>
              </a:defRPr>
            </a:pPr>
            <a:r>
              <a:t>不足(高): ギャップ &lt;= -0.050</a:t>
            </a:r>
          </a:p>
          <a:p>
            <a:pPr>
              <a:defRPr sz="2000" b="1">
                <a:latin typeface="Meiryo"/>
              </a:defRPr>
            </a:pPr>
            <a:r>
              <a:t>不足(中): -0.050 &lt; ギャップ &lt;= -0.030</a:t>
            </a:r>
          </a:p>
          <a:p>
            <a:pPr>
              <a:defRPr sz="2000" b="1">
                <a:latin typeface="Meiryo"/>
              </a:defRPr>
            </a:pPr>
            <a:r>
              <a:t>不足(低): -0.030 &lt; ギャップ &lt;= -0.015</a:t>
            </a:r>
          </a:p>
          <a:p>
            <a:pPr>
              <a:defRPr sz="2000" b="1">
                <a:latin typeface="Meiryo"/>
              </a:defRPr>
            </a:pPr>
            <a:r>
              <a:t>適正: -0.015 &lt; ギャップ &lt; 0.015</a:t>
            </a:r>
          </a:p>
          <a:p>
            <a:pPr>
              <a:defRPr sz="2000" b="1">
                <a:latin typeface="Meiryo"/>
              </a:defRPr>
            </a:pPr>
            <a:r>
              <a:t>過多(低): 0.015 &lt;= ギャップ &lt; 0.030</a:t>
            </a:r>
          </a:p>
          <a:p>
            <a:pPr>
              <a:defRPr sz="2000" b="1">
                <a:latin typeface="Meiryo"/>
              </a:defRPr>
            </a:pPr>
            <a:r>
              <a:t>過多(中): 0.030 &lt;= ギャップ &lt; 0.050</a:t>
            </a:r>
          </a:p>
          <a:p>
            <a:pPr>
              <a:defRPr sz="2000" b="1">
                <a:latin typeface="Meiryo"/>
              </a:defRPr>
            </a:pPr>
            <a:r>
              <a:t>過多(高): 0.050 &lt;= ギャップ</a:t>
            </a:r>
          </a:p>
          <a:p>
            <a:pPr>
              <a:defRPr sz="2000" b="1">
                <a:latin typeface="Meiryo"/>
              </a:defRPr>
            </a:pPr>
            <a:r>
              <a:t>対象外: 比較に必要な値が取れない行</a:t>
            </a:r>
          </a:p>
          <a:p>
            <a:pPr>
              <a:defRPr sz="2000" b="0">
                <a:latin typeface="Meiryo"/>
              </a:defRPr>
            </a:pPr>
            <a:r>
              <a:t>補足:</a:t>
            </a:r>
          </a:p>
          <a:p>
            <a:pPr>
              <a:defRPr sz="2000" b="1">
                <a:latin typeface="Meiryo"/>
              </a:defRPr>
            </a:pPr>
            <a:r>
              <a:t>このファイルの割合は /100 形式です。</a:t>
            </a:r>
          </a:p>
          <a:p>
            <a:pPr>
              <a:defRPr sz="2000" b="1">
                <a:latin typeface="Meiryo"/>
              </a:defRPr>
            </a:pPr>
            <a:r>
              <a:t>Excelでパーセント表示にすると見やすくなります。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スライド4: 項目一覧（左から順に）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latin typeface="Meiryo"/>
              </a:defRPr>
            </a:pPr>
            <a:r>
              <a:t>項目名  /  意味  /  現場での使い方</a:t>
            </a:r>
          </a:p>
          <a:p>
            <a:pPr>
              <a:defRPr sz="2000" b="0">
                <a:latin typeface="Meiryo"/>
              </a:defRPr>
            </a:pPr>
            <a:r>
              <a:t>--- / --- / ---</a:t>
            </a:r>
          </a:p>
          <a:p>
            <a:pPr>
              <a:defRPr sz="2000" b="0">
                <a:latin typeface="Meiryo"/>
              </a:defRPr>
            </a:pPr>
            <a:r>
              <a:t>日付  /  シフト日  /  いつの判断か確認</a:t>
            </a:r>
          </a:p>
          <a:p>
            <a:pPr>
              <a:defRPr sz="2000" b="0">
                <a:latin typeface="Meiryo"/>
              </a:defRPr>
            </a:pPr>
            <a:r>
              <a:t>店舗略称  /  店舗の短縮名  /  画面で見やすく確認</a:t>
            </a:r>
          </a:p>
          <a:p>
            <a:pPr>
              <a:defRPr sz="2000" b="0">
                <a:latin typeface="Meiryo"/>
              </a:defRPr>
            </a:pPr>
            <a:r>
              <a:t>店舗名  /  正式店舗名  /  集計軸として使用</a:t>
            </a:r>
          </a:p>
          <a:p>
            <a:pPr>
              <a:defRPr sz="2000" b="0">
                <a:latin typeface="Meiryo"/>
              </a:defRPr>
            </a:pPr>
            <a:r>
              <a:t>店舗コード  /  店舗ID  /  システム連携用</a:t>
            </a:r>
          </a:p>
          <a:p>
            <a:pPr>
              <a:defRPr sz="2000" b="0">
                <a:latin typeface="Meiryo"/>
              </a:defRPr>
            </a:pPr>
            <a:r>
              <a:t>時間帯  /  1時間ごとの枠  /  どの時間に課題があるか確認</a:t>
            </a:r>
          </a:p>
          <a:p>
            <a:pPr>
              <a:defRPr sz="1800" b="0">
                <a:latin typeface="Meiryo"/>
              </a:defRPr>
            </a:pPr>
            <a:r>
              <a:t>体制判定(不足/適正/過多)  /  需給ギャップの判定結果  /  優先対応の目安</a:t>
            </a:r>
          </a:p>
          <a:p>
            <a:pPr>
              <a:defRPr sz="2000" b="0">
                <a:latin typeface="Meiryo"/>
              </a:defRPr>
            </a:pPr>
            <a:r>
              <a:t>時間帯構成比(金額,%)  /  売上需要の比率  /  需要の強い時間を把握</a:t>
            </a:r>
          </a:p>
          <a:p>
            <a:pPr>
              <a:defRPr sz="2000" b="0">
                <a:latin typeface="Meiryo"/>
              </a:defRPr>
            </a:pPr>
            <a:r>
              <a:t>体制シェア(人数×販売力,%)  /  体制の配分比率  /  配置の厚みを確認</a:t>
            </a:r>
          </a:p>
          <a:p>
            <a:pPr>
              <a:defRPr sz="1800" b="0">
                <a:latin typeface="Meiryo"/>
              </a:defRPr>
            </a:pPr>
            <a:r>
              <a:t>需給ギャップ(pt)  /  体制と需要の差  /  マイナスなら増員や休憩調整検討</a:t>
            </a:r>
          </a:p>
          <a:p>
            <a:pPr>
              <a:defRPr sz="2000" b="0">
                <a:latin typeface="Meiryo"/>
              </a:defRPr>
            </a:pPr>
            <a:r>
              <a:t>配置人数(人)  /  その時間の人数  /  まず人数不足か確認</a:t>
            </a:r>
          </a:p>
          <a:p>
            <a:pPr>
              <a:defRPr sz="2000" b="0">
                <a:latin typeface="Meiryo"/>
              </a:defRPr>
            </a:pPr>
            <a:r>
              <a:t>平均販売力(人あたり)  /  時間帯の平均販売力  /  人数以外の質も確認</a:t>
            </a:r>
          </a:p>
          <a:p>
            <a:pPr>
              <a:defRPr sz="2000" b="0">
                <a:latin typeface="Meiryo"/>
              </a:defRPr>
            </a:pPr>
            <a:r>
              <a:t>販売力指数合計  /  スタッフ販売力の合計値  /  体制強度の参考</a:t>
            </a:r>
          </a:p>
          <a:p>
            <a:pPr>
              <a:defRPr sz="2000" b="0">
                <a:latin typeface="Meiryo"/>
              </a:defRPr>
            </a:pPr>
            <a:r>
              <a:t>警告種別  /  シフト上の注意区分  /  データ品質や例外確認</a:t>
            </a:r>
          </a:p>
          <a:p>
            <a:pPr>
              <a:defRPr sz="2000" b="0">
                <a:latin typeface="Meiryo"/>
              </a:defRPr>
            </a:pPr>
            <a:r>
              <a:t>警告詳細  /  警告内容の詳細  /  原因を具体確認</a:t>
            </a:r>
          </a:p>
          <a:p>
            <a:pPr>
              <a:defRPr sz="2000" b="0">
                <a:latin typeface="Meiryo"/>
              </a:defRPr>
            </a:pPr>
            <a:r>
              <a:t>担当スタッフ1〜7  /  その時間のメンバー  /  休憩・配置の再調整に使用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スライド5: 1行の読み方（例）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latin typeface="Meiryo"/>
              </a:defRPr>
            </a:pPr>
            <a:r>
              <a:t>例:</a:t>
            </a:r>
          </a:p>
          <a:p>
            <a:pPr>
              <a:defRPr sz="2000" b="1">
                <a:latin typeface="Meiryo"/>
              </a:defRPr>
            </a:pPr>
            <a:r>
              <a:t>時間帯構成比(金額,%) = 0.1600（16%）</a:t>
            </a:r>
          </a:p>
          <a:p>
            <a:pPr>
              <a:defRPr sz="2000" b="1">
                <a:latin typeface="Meiryo"/>
              </a:defRPr>
            </a:pPr>
            <a:r>
              <a:t>体制シェア(人数×販売力,%) = 0.1000（10%）</a:t>
            </a:r>
          </a:p>
          <a:p>
            <a:pPr>
              <a:defRPr sz="2000" b="1">
                <a:latin typeface="Meiryo"/>
              </a:defRPr>
            </a:pPr>
            <a:r>
              <a:t>需給ギャップ(pt) = -0.0600（-6pt）</a:t>
            </a:r>
          </a:p>
          <a:p>
            <a:pPr>
              <a:defRPr sz="2000" b="1">
                <a:latin typeface="Meiryo"/>
              </a:defRPr>
            </a:pPr>
            <a:r>
              <a:t>体制判定 = 不足(高)</a:t>
            </a:r>
          </a:p>
          <a:p>
            <a:pPr>
              <a:defRPr sz="2000" b="0">
                <a:latin typeface="Meiryo"/>
              </a:defRPr>
            </a:pPr>
            <a:r>
              <a:t>解釈:</a:t>
            </a:r>
          </a:p>
          <a:p>
            <a:pPr>
              <a:defRPr sz="2000" b="1">
                <a:latin typeface="Meiryo"/>
              </a:defRPr>
            </a:pPr>
            <a:r>
              <a:t>「売れやすい時間に対して体制が薄い」状態</a:t>
            </a:r>
          </a:p>
          <a:p>
            <a:pPr>
              <a:defRPr sz="2000" b="1">
                <a:latin typeface="Meiryo"/>
              </a:defRPr>
            </a:pPr>
            <a:r>
              <a:t>対応案: 休憩を前後へ移動、応援投入、販売力の高いスタッフを当該時間へ移す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スライド6: 現場アクションの基本ルール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latin typeface="Meiryo"/>
              </a:defRPr>
            </a:pPr>
            <a:r>
              <a:t>不足(高)/(中): 最優先で見直し</a:t>
            </a:r>
          </a:p>
          <a:p>
            <a:pPr>
              <a:defRPr sz="2000" b="1">
                <a:latin typeface="Meiryo"/>
              </a:defRPr>
            </a:pPr>
            <a:r>
              <a:t>休憩の移動</a:t>
            </a:r>
          </a:p>
          <a:p>
            <a:pPr>
              <a:defRPr sz="2000" b="1">
                <a:latin typeface="Meiryo"/>
              </a:defRPr>
            </a:pPr>
            <a:r>
              <a:t>1名応援配置</a:t>
            </a:r>
          </a:p>
          <a:p>
            <a:pPr>
              <a:defRPr sz="2000" b="1">
                <a:latin typeface="Meiryo"/>
              </a:defRPr>
            </a:pPr>
            <a:r>
              <a:t>販売力の高いメンバーをピーク時間へ</a:t>
            </a:r>
          </a:p>
          <a:p>
            <a:pPr>
              <a:defRPr sz="2000" b="1">
                <a:latin typeface="Meiryo"/>
              </a:defRPr>
            </a:pPr>
            <a:r>
              <a:t>過多(高)/(中): 配置最適化</a:t>
            </a:r>
          </a:p>
          <a:p>
            <a:pPr>
              <a:defRPr sz="2000" b="1">
                <a:latin typeface="Meiryo"/>
              </a:defRPr>
            </a:pPr>
            <a:r>
              <a:t>前後の不足時間へ再配分</a:t>
            </a:r>
          </a:p>
          <a:p>
            <a:pPr>
              <a:defRPr sz="2000" b="1">
                <a:latin typeface="Meiryo"/>
              </a:defRPr>
            </a:pPr>
            <a:r>
              <a:t>適正: 現状維持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スライド7: 注意点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latin typeface="Meiryo"/>
              </a:defRPr>
            </a:pPr>
            <a:r>
              <a:t>これは「予測の目安」であり、確定結果ではありません。</a:t>
            </a:r>
          </a:p>
          <a:p>
            <a:pPr>
              <a:defRPr sz="2000" b="1">
                <a:latin typeface="Meiryo"/>
              </a:defRPr>
            </a:pPr>
            <a:r>
              <a:t>天候・イベント・販促など当日の要因で変動します。</a:t>
            </a:r>
          </a:p>
          <a:p>
            <a:pPr>
              <a:defRPr sz="2000" b="1">
                <a:latin typeface="Meiryo"/>
              </a:defRPr>
            </a:pPr>
            <a:r>
              <a:t>週次で見て改善が進んでいるかを確認してください。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スライド8: 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latin typeface="Meiryo"/>
              </a:defRPr>
            </a:pPr>
            <a:r>
              <a:t>この表は「需要」と「体制」を同じ土俵で比べるためのものです。</a:t>
            </a:r>
          </a:p>
          <a:p>
            <a:pPr>
              <a:defRPr sz="2000" b="1">
                <a:latin typeface="Meiryo"/>
              </a:defRPr>
            </a:pPr>
            <a:r>
              <a:t>まずは「不足(高)/(中)」時間帯から改善すると効果が出やすいです。</a:t>
            </a:r>
          </a:p>
          <a:p>
            <a:pPr>
              <a:defRPr sz="2000" b="1">
                <a:latin typeface="Meiryo"/>
              </a:defRPr>
            </a:pPr>
            <a:r>
              <a:t>目標は、売上機会の取りこぼしを減らし、ムダな配置も減らすことです。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